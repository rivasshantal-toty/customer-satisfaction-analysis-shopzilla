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FDF586-32DE-44A2-9E40-71F149E70B34}">
  <a:tblStyle styleId="{09FDF586-32DE-44A2-9E40-71F149E70B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a8376e97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a8376e97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a8376e97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a8376e97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a8376e97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a8376e97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a8376e97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a8376e97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a8376e97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a8376e97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a8376e97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a8376e97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a8376e97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a8376e97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a8376e97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a8376e97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a8376e97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a8376e97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a8376e97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a8376e97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a8376e97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a8376e97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file/d/16QwWUj08SBrtAecK4ia5QcnDloMjsAck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80">
                <a:latin typeface="Cambria"/>
                <a:ea typeface="Cambria"/>
                <a:cs typeface="Cambria"/>
                <a:sym typeface="Cambria"/>
              </a:rPr>
              <a:t>Enhancing Customer Satisfaction at Shopzilla Through Data Analysis</a:t>
            </a:r>
            <a:endParaRPr sz="328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ambria"/>
                <a:ea typeface="Cambria"/>
                <a:cs typeface="Cambria"/>
                <a:sym typeface="Cambria"/>
              </a:rPr>
              <a:t>A Hands-On Data Analytics Project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37375" y="3890900"/>
            <a:ext cx="27999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latin typeface="Cambria"/>
                <a:ea typeface="Cambria"/>
                <a:cs typeface="Cambria"/>
                <a:sym typeface="Cambria"/>
              </a:rPr>
              <a:t>Name: </a:t>
            </a:r>
            <a:r>
              <a:rPr lang="es" sz="1600">
                <a:latin typeface="Cambria"/>
                <a:ea typeface="Cambria"/>
                <a:cs typeface="Cambria"/>
                <a:sym typeface="Cambria"/>
              </a:rPr>
              <a:t>Shantal Rivas 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latin typeface="Cambria"/>
                <a:ea typeface="Cambria"/>
                <a:cs typeface="Cambria"/>
                <a:sym typeface="Cambria"/>
              </a:rPr>
              <a:t>Tools Used: </a:t>
            </a:r>
            <a:r>
              <a:rPr lang="es" sz="1600">
                <a:latin typeface="Cambria"/>
                <a:ea typeface="Cambria"/>
                <a:cs typeface="Cambria"/>
                <a:sym typeface="Cambria"/>
              </a:rPr>
              <a:t>BigQuery (SQL), Tableau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>
                <a:latin typeface="Cambria"/>
                <a:ea typeface="Cambria"/>
                <a:cs typeface="Cambria"/>
                <a:sym typeface="Cambria"/>
              </a:rPr>
              <a:t>Why This Project?</a:t>
            </a:r>
            <a:endParaRPr b="1" sz="18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📌 </a:t>
            </a:r>
            <a:r>
              <a:rPr b="1" lang="e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Content:</a:t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➢"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 wanted to work on a project that mimics real-world challenges in e-commerce.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➢"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Customer satisfaction is a key factor in retention, so I decided to analyze what drives complaints and how businesses can improve.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➢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Main Goal: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Identify the key drivers of low CSAT and suggest data-driven improvements.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3113849"/>
            <a:ext cx="3655800" cy="202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>
                <a:latin typeface="Cambria"/>
                <a:ea typeface="Cambria"/>
                <a:cs typeface="Cambria"/>
                <a:sym typeface="Cambria"/>
              </a:rPr>
              <a:t>The Business Problem (ASK Phase)</a:t>
            </a:r>
            <a:endParaRPr b="1" sz="18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What’s happening?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📉 Shopzilla’s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CSAT scores are dropping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due to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rising customer complaints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Main Questions: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are the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top reasons for customer complaints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 do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agent performance &amp; response time affect CSAT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actions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can be taken to improve satisfaction?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700875" y="356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{09FDF586-32DE-44A2-9E40-71F149E70B34}</a:tableStyleId>
              </a:tblPr>
              <a:tblGrid>
                <a:gridCol w="2208525"/>
                <a:gridCol w="2208525"/>
                <a:gridCol w="2208525"/>
              </a:tblGrid>
              <a:tr h="287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Customer Support Managers</a:t>
                      </a:r>
                      <a:endParaRPr sz="12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Operations Team</a:t>
                      </a:r>
                      <a:endParaRPr sz="12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Executives &amp; Strategy Team</a:t>
                      </a:r>
                      <a:endParaRPr sz="12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1" name="Google Shape;71;p15"/>
          <p:cNvSpPr txBox="1"/>
          <p:nvPr/>
        </p:nvSpPr>
        <p:spPr>
          <a:xfrm>
            <a:off x="2924350" y="3193050"/>
            <a:ext cx="21786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Key Stakeholders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>
                <a:latin typeface="Cambria"/>
                <a:ea typeface="Cambria"/>
                <a:cs typeface="Cambria"/>
                <a:sym typeface="Cambria"/>
              </a:rPr>
              <a:t> Data &amp; Tools (PREPARE Phase)</a:t>
            </a:r>
            <a:endParaRPr b="1" sz="18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Dataset: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Kaggle (85,907 rows, 20 columns)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Tools I Used:</a:t>
            </a:r>
            <a:b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✅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BigQuery (SQL)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– Data extraction &amp; cleaning</a:t>
            </a:r>
            <a:b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✅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Tableau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– Visualizing insights</a:t>
            </a:r>
            <a:b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✅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Google Data Analytics Process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– Structured problem-solving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62388">
            <a:off x="5406057" y="1266553"/>
            <a:ext cx="2855459" cy="265526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4">
            <a:alphaModFix/>
          </a:blip>
          <a:srcRect b="0" l="0" r="28800" t="0"/>
          <a:stretch/>
        </p:blipFill>
        <p:spPr>
          <a:xfrm rot="-551632">
            <a:off x="4493375" y="2477374"/>
            <a:ext cx="4133218" cy="197238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>
                <a:latin typeface="Cambria"/>
                <a:ea typeface="Cambria"/>
                <a:cs typeface="Cambria"/>
                <a:sym typeface="Cambria"/>
              </a:rPr>
              <a:t>Data Cleaning &amp; Preprocessing (PROCESS Phase)</a:t>
            </a:r>
            <a:endParaRPr b="1" sz="18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379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Main Issues Found:</a:t>
            </a:r>
            <a:b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✅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Missing Values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Handled with replacements ("Unknown"/"Unspecified")</a:t>
            </a:r>
            <a:b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✅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 Duplicates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found </a:t>
            </a:r>
            <a:b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✅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Time Format Issues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Converted response time from minutes to hours</a:t>
            </a:r>
            <a:b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✅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Incorrect Timestamps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Removed negative values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0" l="0" r="11126" t="4552"/>
          <a:stretch/>
        </p:blipFill>
        <p:spPr>
          <a:xfrm>
            <a:off x="4658495" y="1152475"/>
            <a:ext cx="4089780" cy="2450600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819" y="2320100"/>
            <a:ext cx="3315956" cy="2450600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>
                <a:latin typeface="Cambria"/>
                <a:ea typeface="Cambria"/>
                <a:cs typeface="Cambria"/>
                <a:sym typeface="Cambria"/>
              </a:rPr>
              <a:t>Key Findings – What Are Customers Complaining About?</a:t>
            </a:r>
            <a:endParaRPr b="1" sz="18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276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●"/>
            </a:pPr>
            <a:r>
              <a:rPr b="1" lang="e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Most Common Complaints: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○"/>
            </a:pPr>
            <a:r>
              <a:rPr b="1" lang="e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48.1% → Returns Issues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○"/>
            </a:pPr>
            <a:r>
              <a:rPr b="1" lang="e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36.4% → Order Issues</a:t>
            </a:r>
            <a:endParaRPr b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Key Insight:</a:t>
            </a:r>
            <a:r>
              <a:rPr lang="e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s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“Returns &amp; order-related problems account for over 80% of all complaints. This suggests that product quality &amp; logistics need improvement.”</a:t>
            </a:r>
            <a:endParaRPr i="1" sz="1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0" l="2900" r="2617" t="0"/>
          <a:stretch/>
        </p:blipFill>
        <p:spPr>
          <a:xfrm>
            <a:off x="3075000" y="1284957"/>
            <a:ext cx="5662824" cy="2479193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>
                <a:latin typeface="Cambria"/>
                <a:ea typeface="Cambria"/>
                <a:cs typeface="Cambria"/>
                <a:sym typeface="Cambria"/>
              </a:rPr>
              <a:t>Why Are Customers Not Giving Enough Feedback?</a:t>
            </a:r>
            <a:endParaRPr b="1" sz="18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344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Many complaints lack customer remarks: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65% of return complaints =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"No feedback provided"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68% of order complaints =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"No feedback provided"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What this means: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“Customers might not feel encouraged to leave detailed feedback, making it harder to fix specific issues.”</a:t>
            </a:r>
            <a:endParaRPr i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5825" y="1017725"/>
            <a:ext cx="4898550" cy="3846950"/>
          </a:xfrm>
          <a:prstGeom prst="rect">
            <a:avLst/>
          </a:prstGeom>
          <a:noFill/>
          <a:ln cap="flat" cmpd="sng" w="25400">
            <a:solidFill>
              <a:srgbClr val="434343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>
                <a:latin typeface="Cambria"/>
                <a:ea typeface="Cambria"/>
                <a:cs typeface="Cambria"/>
                <a:sym typeface="Cambria"/>
              </a:rPr>
              <a:t>Key Findings – How Fast Do Agents Respond? (CSAT Impact)</a:t>
            </a:r>
            <a:endParaRPr b="1" sz="18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520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Avg CSAT Score: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⭐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3.96/5 (Decent, but room for improvement)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Avg Response Time: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⏳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7.09 hours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(Below industry benchmark)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Key Insight: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Faster response times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 higher CSAT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788" y="1152475"/>
            <a:ext cx="795401" cy="3416401"/>
          </a:xfrm>
          <a:prstGeom prst="rect">
            <a:avLst/>
          </a:prstGeom>
          <a:noFill/>
          <a:ln cap="flat" cmpd="sng" w="25400">
            <a:solidFill>
              <a:srgbClr val="434343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09" name="Google Shape;109;p20"/>
          <p:cNvPicPr preferRelativeResize="0"/>
          <p:nvPr/>
        </p:nvPicPr>
        <p:blipFill rotWithShape="1">
          <a:blip r:embed="rId4">
            <a:alphaModFix/>
          </a:blip>
          <a:srcRect b="0" l="2978" r="0" t="0"/>
          <a:stretch/>
        </p:blipFill>
        <p:spPr>
          <a:xfrm>
            <a:off x="6926850" y="1152475"/>
            <a:ext cx="838995" cy="3416400"/>
          </a:xfrm>
          <a:prstGeom prst="rect">
            <a:avLst/>
          </a:prstGeom>
          <a:noFill/>
          <a:ln cap="flat" cmpd="sng" w="25400">
            <a:solidFill>
              <a:srgbClr val="434343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>
                <a:latin typeface="Cambria"/>
                <a:ea typeface="Cambria"/>
                <a:cs typeface="Cambria"/>
                <a:sym typeface="Cambria"/>
              </a:rPr>
              <a:t>Recommendations – Fixing Product &amp; Logistics Issues</a:t>
            </a:r>
            <a:endParaRPr b="1" sz="18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🔹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Better Quality Control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Pre-shipping inspections &amp; packaging checks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🔹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Faster Shipping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Partner with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reliable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carriers, offer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real-time tracking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🔹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Simplify Returns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Clear policies, prepaid return labels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0600" y="2810300"/>
            <a:ext cx="2031700" cy="20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>
                <a:latin typeface="Cambria"/>
                <a:ea typeface="Cambria"/>
                <a:cs typeface="Cambria"/>
                <a:sym typeface="Cambria"/>
              </a:rPr>
              <a:t>Recommendations – Customer Support &amp; Feedback</a:t>
            </a:r>
            <a:endParaRPr b="1" sz="18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📌 </a:t>
            </a:r>
            <a:r>
              <a:rPr b="1" lang="e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Content:</a:t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🔹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Monitor Response Times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Reduce to &lt;7 hours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🔹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Use AI for Faster Replies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Automate common inquiries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🔹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Encourage Customer Feedback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Incentives like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discounts/loyalty points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🔹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Track Complaints Automatically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→ AI-based categorization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0600" y="2810300"/>
            <a:ext cx="2031700" cy="20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1820">
                <a:latin typeface="Cambria"/>
                <a:ea typeface="Cambria"/>
                <a:cs typeface="Cambria"/>
                <a:sym typeface="Cambria"/>
              </a:rPr>
              <a:t>Final Takeaways &amp; Business Impact</a:t>
            </a:r>
            <a:endParaRPr b="1" sz="182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📌</a:t>
            </a:r>
            <a:r>
              <a:rPr b="1" lang="e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Key Takeaways:</a:t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Returns &amp; order issues = 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main drivers of CSAT decline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Faster response times = 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happier customers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Small changes (better logistics &amp; communication) can have a big impact</a:t>
            </a:r>
            <a:b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✅ </a:t>
            </a: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Expected Impact: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CSAT increase:</a:t>
            </a:r>
            <a:r>
              <a:rPr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+0.5 to 1 point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b="1" lang="es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More repeat customers, fewer complaints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Full detailed project here: </a:t>
            </a:r>
            <a:r>
              <a:rPr lang="es" sz="1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https://drive.google.com/file/d/16QwWUj08SBrtAecK4ia5QcnDloMjsAck/view?usp=sharing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